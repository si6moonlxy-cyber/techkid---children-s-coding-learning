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Calibri"/>
              </a:defRPr>
            </a:pPr>
            <a:r>
              <a:t>TechKids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8ECDF"/>
                </a:solidFill>
                <a:latin typeface="Microsoft YaHei"/>
              </a:defRPr>
            </a:pPr>
            <a:r>
              <a:t>儿童技术学习教育 iOS App 产品需求与市场分析报告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00400"/>
            <a:ext cx="1920240" cy="384048"/>
          </a:xfrm>
          <a:prstGeom prst="roundRect">
            <a:avLst/>
          </a:prstGeom>
          <a:solidFill>
            <a:srgbClr val="FFFFFF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IAA 广告变现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3200400"/>
            <a:ext cx="1920240" cy="384048"/>
          </a:xfrm>
          <a:prstGeom prst="roundRect">
            <a:avLst/>
          </a:prstGeom>
          <a:solidFill>
            <a:srgbClr val="FFFFFF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STEAM 教育理念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59" y="3200400"/>
            <a:ext cx="1920240" cy="384048"/>
          </a:xfrm>
          <a:prstGeom prst="roundRect">
            <a:avLst/>
          </a:prstGeom>
          <a:solidFill>
            <a:srgbClr val="FFFFFF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AI 时代启蒙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348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ECBBB"/>
                </a:solidFill>
                <a:latin typeface="Microsoft YaHei"/>
              </a:defRPr>
            </a:pPr>
            <a:r>
              <a:t>2026年4月  |  产品策划文档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B3C"/>
                </a:solidFill>
                <a:latin typeface="Microsoft YaHei"/>
              </a:defRPr>
            </a:pPr>
            <a:r>
              <a:t>报告目录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Report Outline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80160"/>
            <a:ext cx="475488" cy="47548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801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2B3C"/>
                </a:solidFill>
                <a:latin typeface="Microsoft YaHei"/>
              </a:defRPr>
            </a:pPr>
            <a:r>
              <a:t>市场分析与行业洞察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57276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市场规模、增长趋势、政策环境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993392"/>
            <a:ext cx="475488" cy="47548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933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2B3C"/>
                </a:solidFill>
                <a:latin typeface="Microsoft YaHei"/>
              </a:defRPr>
            </a:pPr>
            <a:r>
              <a:t>竞品深度分析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8600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主流产品对比、差异化机会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706624"/>
            <a:ext cx="475488" cy="47548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0662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2B3C"/>
                </a:solidFill>
                <a:latin typeface="Microsoft YaHei"/>
              </a:defRPr>
            </a:pPr>
            <a:r>
              <a:t>IAA广告变现策略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99232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变现模式设计、eCPM优化、合规要点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419856"/>
            <a:ext cx="475488" cy="475488"/>
          </a:xfrm>
          <a:prstGeom prst="ellipse">
            <a:avLst/>
          </a:prstGeom>
          <a:solidFill>
            <a:srgbClr val="F97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419856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2B3C"/>
                </a:solidFill>
                <a:latin typeface="Microsoft YaHei"/>
              </a:defRPr>
            </a:pPr>
            <a:r>
              <a:t>产品需求文档PRD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712464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功能规划、用户体验、技术架构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133088"/>
            <a:ext cx="475488" cy="47548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13308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2B3C"/>
                </a:solidFill>
                <a:latin typeface="Microsoft YaHei"/>
              </a:defRPr>
            </a:pPr>
            <a:r>
              <a:t>商业模式与财务测算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425696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收入预测、用户增长、ROI分析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280160"/>
            <a:ext cx="2286000" cy="3291840"/>
          </a:xfrm>
          <a:prstGeom prst="roundRect">
            <a:avLst/>
          </a:prstGeom>
          <a:solidFill>
            <a:srgbClr val="E6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B3C"/>
                </a:solidFill>
                <a:latin typeface="Microsoft YaHei"/>
              </a:defRPr>
            </a:pPr>
            <a:r>
              <a:t>01 市场分析：千亿级赛道高速增长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全球少儿编程/STEAM教育市场全景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4864" cy="685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325880"/>
            <a:ext cx="18379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28090"/>
                </a:solidFill>
                <a:latin typeface="Calibri"/>
              </a:defRPr>
            </a:pPr>
            <a:r>
              <a:t>$292亿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737360"/>
            <a:ext cx="18379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2024全球市场规模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18872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40" y="1325880"/>
            <a:ext cx="54864" cy="6858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1325880"/>
            <a:ext cx="18379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A896"/>
                </a:solidFill>
                <a:latin typeface="Calibri"/>
              </a:defRPr>
            </a:pPr>
            <a:r>
              <a:t>$474.9亿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1737360"/>
            <a:ext cx="18379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2031预测规模 (CAGR 7.3%)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18872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325880"/>
            <a:ext cx="54864" cy="685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0912" y="1325880"/>
            <a:ext cx="18379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2C39A"/>
                </a:solidFill>
                <a:latin typeface="Calibri"/>
              </a:defRPr>
            </a:pPr>
            <a:r>
              <a:t>~488亿元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1737360"/>
            <a:ext cx="18379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2024中国少儿编程市场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1188720"/>
            <a:ext cx="1828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86600" y="1325880"/>
            <a:ext cx="54864" cy="685800"/>
          </a:xfrm>
          <a:prstGeom prst="rect">
            <a:avLst/>
          </a:prstGeom>
          <a:solidFill>
            <a:srgbClr val="F97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51192" y="1325880"/>
            <a:ext cx="16093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9723C"/>
                </a:solidFill>
                <a:latin typeface="Calibri"/>
              </a:defRPr>
            </a:pPr>
            <a:r>
              <a:t>647.1亿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1737360"/>
            <a:ext cx="16093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2024中国STEAM规模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3317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B3C"/>
                </a:solidFill>
                <a:latin typeface="Microsoft YaHei"/>
              </a:defRPr>
            </a:pPr>
            <a:r>
              <a:t>核心驱动因素</a:t>
            </a:r>
          </a:p>
        </p:txBody>
      </p:sp>
      <p:sp>
        <p:nvSpPr>
          <p:cNvPr id="22" name="Oval 21"/>
          <p:cNvSpPr/>
          <p:nvPr/>
        </p:nvSpPr>
        <p:spPr>
          <a:xfrm>
            <a:off x="365760" y="2816352"/>
            <a:ext cx="146304" cy="14630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74320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2B3C"/>
                </a:solidFill>
                <a:latin typeface="Microsoft YaHei"/>
              </a:defRPr>
            </a:pPr>
            <a:r>
              <a:t>AI时代刚需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3054096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Microsoft YaHei"/>
              </a:defRPr>
            </a:pPr>
            <a:r>
              <a:t>人工智能普及推动编程从兴趣转向核心素养</a:t>
            </a:r>
          </a:p>
        </p:txBody>
      </p:sp>
      <p:sp>
        <p:nvSpPr>
          <p:cNvPr id="25" name="Oval 24"/>
          <p:cNvSpPr/>
          <p:nvPr/>
        </p:nvSpPr>
        <p:spPr>
          <a:xfrm>
            <a:off x="4663440" y="2816352"/>
            <a:ext cx="146304" cy="14630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01184" y="274320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2B3C"/>
                </a:solidFill>
                <a:latin typeface="Microsoft YaHei"/>
              </a:defRPr>
            </a:pPr>
            <a:r>
              <a:t>政策红利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01184" y="3054096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Microsoft YaHei"/>
              </a:defRPr>
            </a:pPr>
            <a:r>
              <a:t>多国将编程纳入K12课程体系</a:t>
            </a:r>
          </a:p>
        </p:txBody>
      </p:sp>
      <p:sp>
        <p:nvSpPr>
          <p:cNvPr id="28" name="Oval 27"/>
          <p:cNvSpPr/>
          <p:nvPr/>
        </p:nvSpPr>
        <p:spPr>
          <a:xfrm>
            <a:off x="365760" y="3822191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749039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2B3C"/>
                </a:solidFill>
                <a:latin typeface="Microsoft YaHei"/>
              </a:defRPr>
            </a:pPr>
            <a:r>
              <a:t>消费升级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" y="4059935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Microsoft YaHei"/>
              </a:defRPr>
            </a:pPr>
            <a:r>
              <a:t>家庭教育支出持续向素质教育倾斜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3822191"/>
            <a:ext cx="146304" cy="146304"/>
          </a:xfrm>
          <a:prstGeom prst="ellipse">
            <a:avLst/>
          </a:prstGeom>
          <a:solidFill>
            <a:srgbClr val="F97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01184" y="3749039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2B3C"/>
                </a:solidFill>
                <a:latin typeface="Microsoft YaHei"/>
              </a:defRPr>
            </a:pPr>
            <a:r>
              <a:t>移动优先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01184" y="4059935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Microsoft YaHei"/>
              </a:defRPr>
            </a:pPr>
            <a:r>
              <a:t>iPad成为儿童学习首选设备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B3C"/>
                </a:solidFill>
                <a:latin typeface="Microsoft YaHei"/>
              </a:defRPr>
            </a:pPr>
            <a:r>
              <a:t>目标用户画像：双角色产品设计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使用者 vs 付费决策者分离模型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40233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402336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👦 核心使用者：儿童 (5-12岁)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28090"/>
                </a:solidFill>
              </a:defRPr>
            </a:pPr>
            <a:r>
              <a:t>年龄分布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75104"/>
            <a:ext cx="3657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B3C"/>
                </a:solidFill>
              </a:defRPr>
            </a:pPr>
            <a:r>
              <a:t>5-7岁 启蒙期 | 8-10岁 成长期 | 11-12岁 进阶期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67712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28090"/>
                </a:solidFill>
              </a:defRPr>
            </a:pPr>
            <a:r>
              <a:t>认知特点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05456"/>
            <a:ext cx="3657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B3C"/>
                </a:solidFill>
              </a:defRPr>
            </a:pPr>
            <a:r>
              <a:t>具象思维为主，需要即时反馈和游戏化激励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98063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28090"/>
                </a:solidFill>
              </a:defRPr>
            </a:pPr>
            <a:r>
              <a:t>注意力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35807"/>
            <a:ext cx="3657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B3C"/>
                </a:solidFill>
              </a:defRPr>
            </a:pPr>
            <a:r>
              <a:t>专注时长10-20分钟，需碎片化内容设计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28415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28090"/>
                </a:solidFill>
              </a:defRPr>
            </a:pPr>
            <a:r>
              <a:t>使用场景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6159"/>
            <a:ext cx="3657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B3C"/>
                </a:solidFill>
              </a:defRPr>
            </a:pPr>
            <a:r>
              <a:t>课后放松、周末、家长陪伴下使用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5876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28090"/>
                </a:solidFill>
              </a:defRPr>
            </a:pPr>
            <a:r>
              <a:t>核心诉求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96512"/>
            <a:ext cx="3657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B3C"/>
                </a:solidFill>
              </a:defRPr>
            </a:pPr>
            <a:r>
              <a:t>好玩有趣 &gt; 学到知识，成就感驱动力强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28090"/>
                </a:solidFill>
              </a:defRPr>
            </a:pPr>
            <a:r>
              <a:t>设备偏好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26864"/>
            <a:ext cx="3657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B3C"/>
                </a:solidFill>
              </a:defRPr>
            </a:pPr>
            <a:r>
              <a:t>iPad为主，大屏幕触控体验更佳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143000"/>
            <a:ext cx="43434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1143000"/>
            <a:ext cx="4343400" cy="457200"/>
          </a:xfrm>
          <a:prstGeom prst="rect">
            <a:avLst/>
          </a:prstGeom>
          <a:solidFill>
            <a:srgbClr val="F97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1207008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👨‍👩‍👧 付费决策者：家长 (30-45岁)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173736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9723C"/>
                </a:solidFill>
              </a:defRPr>
            </a:pPr>
            <a:r>
              <a:t>核心焦虑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1975104"/>
            <a:ext cx="397763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B3C"/>
                </a:solidFill>
              </a:defRPr>
            </a:pPr>
            <a:r>
              <a:t>怕孩子落后于AI时代，希望培养未来竞争力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267712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9723C"/>
                </a:solidFill>
              </a:defRPr>
            </a:pPr>
            <a:r>
              <a:t>付费意愿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2505456"/>
            <a:ext cx="397763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B3C"/>
                </a:solidFill>
              </a:defRPr>
            </a:pPr>
            <a:r>
              <a:t>高——愿意为优质教育内容付费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798063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9723C"/>
                </a:solidFill>
              </a:defRPr>
            </a:pPr>
            <a:r>
              <a:t>决策因素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035807"/>
            <a:ext cx="397763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B3C"/>
                </a:solidFill>
              </a:defRPr>
            </a:pPr>
            <a:r>
              <a:t>内容安全性 &gt; 教育价值 &gt; 价格 &gt; 口碑推荐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328415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9723C"/>
                </a:solidFill>
              </a:defRPr>
            </a:pPr>
            <a:r>
              <a:t>时间约束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566159"/>
            <a:ext cx="397763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B3C"/>
                </a:solidFill>
              </a:defRPr>
            </a:pPr>
            <a:r>
              <a:t>工作繁忙，偏好可自主学习的工具型产品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85876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9723C"/>
                </a:solidFill>
              </a:defRPr>
            </a:pPr>
            <a:r>
              <a:t>关注指标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096512"/>
            <a:ext cx="397763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B3C"/>
                </a:solidFill>
              </a:defRPr>
            </a:pPr>
            <a:r>
              <a:t>学习时长、知识点掌握度、能力提升证明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3891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9723C"/>
                </a:solidFill>
              </a:defRPr>
            </a:pPr>
            <a:r>
              <a:t>信任门槛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626864"/>
            <a:ext cx="397763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B3C"/>
                </a:solidFill>
              </a:defRPr>
            </a:pPr>
            <a:r>
              <a:t>对免费产品的安全性和广告有顾虑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B3C"/>
                </a:solidFill>
                <a:latin typeface="Microsoft YaHei"/>
              </a:defRPr>
            </a:pPr>
            <a:r>
              <a:t>02 竞品深度分析：主流产品矩阵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国内外儿童编程/技术教育App对比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15568"/>
          <a:ext cx="7772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05840"/>
                <a:gridCol w="914400"/>
                <a:gridCol w="1645920"/>
                <a:gridCol w="1188720"/>
                <a:gridCol w="1828800"/>
              </a:tblGrid>
              <a:tr h="44577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产品名称</a:t>
                      </a:r>
                    </a:p>
                  </a:txBody>
                  <a:tcPr anchor="ctr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 anchor="ctr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目标年龄</a:t>
                      </a:r>
                    </a:p>
                  </a:txBody>
                  <a:tcPr anchor="ctr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核心特色</a:t>
                      </a:r>
                    </a:p>
                  </a:txBody>
                  <a:tcPr anchor="ctr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变现模式</a:t>
                      </a:r>
                    </a:p>
                  </a:txBody>
                  <a:tcPr anchor="ctr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我们的机会</a:t>
                      </a:r>
                    </a:p>
                  </a:txBody>
                  <a:tcPr anchor="ctr">
                    <a:solidFill>
                      <a:srgbClr val="028090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Scratch Jr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图形化编程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5-7岁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MIT出品,拖拽积木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完全免费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缺乏系统课程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Scratch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图形化编程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8-16岁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社区驱动创作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免费开源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无移动端优化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Code.org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结构化课程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5-18岁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体系化CS课程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非营利免费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偏PC端教学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Tynker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游戏化编程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5-14岁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项目驱动学习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订阅制($$$)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价格门槛高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codeSpark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游戏化启蒙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4-9岁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无文字编程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订阅制($$)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仅限英语市场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编程猫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国内综合平台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6-16岁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本土化课程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课程付费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重线下模式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Swift Playgrounds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Apple官方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10岁以上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Swift语言入门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完全免费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2B3C"/>
                          </a:solidFill>
                          <a:latin typeface="Microsoft YaHei"/>
                        </a:defRPr>
                      </a:pPr>
                      <a:r>
                        <a:t>年龄门槛高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B3C"/>
                </a:solidFill>
                <a:latin typeface="Microsoft YaHei"/>
              </a:defRPr>
            </a:pPr>
            <a:r>
              <a:t>差异化定位：填补市场空白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TechKids的独特价值主张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8412480" cy="777240"/>
          </a:xfrm>
          <a:prstGeom prst="roundRect">
            <a:avLst/>
          </a:prstGeom>
          <a:solidFill>
            <a:srgbClr val="E6FFFB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A2B3C"/>
                </a:solidFill>
                <a:latin typeface="Microsoft YaHei"/>
              </a:defRPr>
            </a:pPr>
            <a:r>
              <a:t>TechKids = 免费高质量内容 + 游戏化学习体验 + 安全广告环境</a:t>
            </a:r>
            <a:br/>
            <a:r>
              <a:t>面向全球5-12岁儿童的「技术素养启蒙」第一站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03120"/>
            <a:ext cx="269748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269748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304288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090"/>
                </a:solidFill>
              </a:defRPr>
            </a:pPr>
            <a:r>
              <a:t>🎯 精准定位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15184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5-12岁移动端专属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999232"/>
            <a:ext cx="2377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A2B3C"/>
                </a:solidFill>
                <a:latin typeface="Microsoft YaHei"/>
              </a:defRPr>
            </a:pPr>
            <a:r>
              <a:t>✓ 专为iPad/iPhone触控交互设计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474720"/>
            <a:ext cx="2377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A2B3C"/>
                </a:solidFill>
                <a:latin typeface="Microsoft YaHei"/>
              </a:defRPr>
            </a:pPr>
            <a:r>
              <a:t>✓ 分龄分层的内容体系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950208"/>
            <a:ext cx="2377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A2B3C"/>
                </a:solidFill>
                <a:latin typeface="Microsoft YaHei"/>
              </a:defRPr>
            </a:pPr>
            <a:r>
              <a:t>✓ 每课10-15分钟适配注意力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103120"/>
            <a:ext cx="269748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2103120"/>
            <a:ext cx="2697480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2304288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A896"/>
                </a:solidFill>
              </a:defRPr>
            </a:pPr>
            <a:r>
              <a:t>💰 零门槛准入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615184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IAA完全免费模式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2999232"/>
            <a:ext cx="2377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A2B3C"/>
                </a:solidFill>
                <a:latin typeface="Microsoft YaHei"/>
              </a:defRPr>
            </a:pPr>
            <a:r>
              <a:t>✓ 无订阅费、无内购解锁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3474720"/>
            <a:ext cx="2377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A2B3C"/>
                </a:solidFill>
                <a:latin typeface="Microsoft YaHei"/>
              </a:defRPr>
            </a:pPr>
            <a:r>
              <a:t>✓ 观看广告即可获得全部内容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2" y="3950208"/>
            <a:ext cx="2377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A2B3C"/>
                </a:solidFill>
                <a:latin typeface="Microsoft YaHei"/>
              </a:defRPr>
            </a:pPr>
            <a:r>
              <a:t>✓ 降低家庭教育支出压力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2103120"/>
            <a:ext cx="269748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2103120"/>
            <a:ext cx="269748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2304288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C39A"/>
                </a:solidFill>
              </a:defRPr>
            </a:pPr>
            <a:r>
              <a:t>🛡️ 安全可信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2615184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儿童友好的广告环境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2999232"/>
            <a:ext cx="2377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A2B3C"/>
                </a:solidFill>
                <a:latin typeface="Microsoft YaHei"/>
              </a:defRPr>
            </a:pPr>
            <a:r>
              <a:t>✓ COPPA/GDPR合规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3474720"/>
            <a:ext cx="2377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A2B3C"/>
                </a:solidFill>
                <a:latin typeface="Microsoft YaHei"/>
              </a:defRPr>
            </a:pPr>
            <a:r>
              <a:t>✓ 严格筛选品牌类广告素材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3950208"/>
            <a:ext cx="2377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A2B3C"/>
                </a:solidFill>
                <a:latin typeface="Microsoft YaHei"/>
              </a:defRPr>
            </a:pPr>
            <a:r>
              <a:t>✓ 家长可控的广告展示设置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B3C"/>
                </a:solidFill>
                <a:latin typeface="Microsoft YaHei"/>
              </a:defRPr>
            </a:pPr>
            <a:r>
              <a:t>03 IAA广告变现策略设计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平衡用户体验与商业收益的最佳实践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15568"/>
            <a:ext cx="2011680" cy="11430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52728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激励视频广告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核心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161288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⏰ 章节完成/获取奖励时触发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43560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A2B3C"/>
                </a:solidFill>
              </a:defRPr>
            </a:pPr>
            <a:r>
              <a:t>用户主动选择观看 → 获得虚拟奖励/解锁新关卡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207008"/>
            <a:ext cx="2880360" cy="457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2801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090"/>
                </a:solidFill>
              </a:defRPr>
            </a:pPr>
            <a:r>
              <a:t>eCPM最高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37360"/>
            <a:ext cx="28803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• 15-30秒视频时长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984248"/>
            <a:ext cx="28803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• 每日3-5次展示上限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231136"/>
            <a:ext cx="28803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• 奖励需有价值感知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423160"/>
            <a:ext cx="2011680" cy="114300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6032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插屏广告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辅助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⏰ 自然切换节点弹出（如关卡间）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7432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A2B3C"/>
                </a:solidFill>
              </a:defRPr>
            </a:pPr>
            <a:r>
              <a:t>学习流程中的暂停点展示全屏广告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514600"/>
            <a:ext cx="2880360" cy="457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5877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896"/>
                </a:solidFill>
              </a:defRPr>
            </a:pPr>
            <a:r>
              <a:t>曝光量大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044952"/>
            <a:ext cx="28803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• 每2-3关出现一次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291840"/>
            <a:ext cx="28803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• 可点击跳过(5秒后)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538728"/>
            <a:ext cx="28803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• 避开学习关键路径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730752"/>
            <a:ext cx="2011680" cy="114300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867912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Banner广告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补充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7764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⏰ 首页底部常驻展示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05079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A2B3C"/>
                </a:solidFill>
              </a:defRPr>
            </a:pPr>
            <a:r>
              <a:t>低干扰的品牌类横幅广告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3822192"/>
            <a:ext cx="2880360" cy="457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389534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C39A"/>
                </a:solidFill>
              </a:defRPr>
            </a:pPr>
            <a:r>
              <a:t>稳定填充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352544"/>
            <a:ext cx="28803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• 仅限教育/品牌类素材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599432"/>
            <a:ext cx="28803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• 尺寸320x50标准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846320"/>
            <a:ext cx="28803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• 不遮挡操作区域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B3C"/>
                </a:solidFill>
                <a:latin typeface="Microsoft YaHei"/>
              </a:defRPr>
            </a:pPr>
            <a:r>
              <a:t>IAA变现优化：提升eCPM的核心策略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基于行业数据的实战方法论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15568"/>
            <a:ext cx="4114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64008" cy="1737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25296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B3C"/>
                </a:solidFill>
              </a:defRPr>
            </a:pPr>
            <a:r>
              <a:t>混合竞价 Bidding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37490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28090"/>
                </a:solidFill>
              </a:defRPr>
            </a:pPr>
            <a:r>
              <a:t>Waterfall + Bidding 混合模式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65376"/>
            <a:ext cx="1005840" cy="384048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+20~40%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920240"/>
            <a:ext cx="2560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总收益提升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50008"/>
            <a:ext cx="374903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替代人工出价判断，确保每次请求获得最优价格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115568"/>
            <a:ext cx="4114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1115568"/>
            <a:ext cx="64008" cy="17373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225296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B3C"/>
                </a:solidFill>
              </a:defRPr>
            </a:pPr>
            <a:r>
              <a:t>多渠道聚合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536192"/>
            <a:ext cx="37490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0A896"/>
                </a:solidFill>
              </a:defRPr>
            </a:pPr>
            <a:r>
              <a:t>接入AdMob/Unity/腾讯等10+渠道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1865376"/>
            <a:ext cx="1005840" cy="384048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1920240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+40%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920240"/>
            <a:ext cx="2560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开屏eCPM提升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350008"/>
            <a:ext cx="374903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扩大广告资源池，提高填充率和竞价充分性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990087"/>
            <a:ext cx="4114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990087"/>
            <a:ext cx="64008" cy="1737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099815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B3C"/>
                </a:solidFill>
              </a:defRPr>
            </a:pPr>
            <a:r>
              <a:t>智能频次控制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410711"/>
            <a:ext cx="37490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2C39A"/>
                </a:solidFill>
              </a:defRPr>
            </a:pPr>
            <a:r>
              <a:t>用户分层 + 动态调价算法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39895"/>
            <a:ext cx="1005840" cy="384048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794759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+25%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794759"/>
            <a:ext cx="2560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激励视频eCPM提升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24527"/>
            <a:ext cx="374903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根据用户价值调整展示频率和广告出价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9160" y="2990087"/>
            <a:ext cx="4114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09160" y="2990087"/>
            <a:ext cx="64008" cy="1737360"/>
          </a:xfrm>
          <a:prstGeom prst="rect">
            <a:avLst/>
          </a:prstGeom>
          <a:solidFill>
            <a:srgbClr val="F97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3099815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B3C"/>
                </a:solidFill>
              </a:defRPr>
            </a:pPr>
            <a:r>
              <a:t>素材预审机制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410711"/>
            <a:ext cx="37490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9723C"/>
                </a:solidFill>
              </a:defRPr>
            </a:pPr>
            <a:r>
              <a:t>建立先审后投的筛选流程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224527"/>
            <a:ext cx="374903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屏蔽游戏等不当素材，引入品牌广告主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B3C"/>
                </a:solidFill>
                <a:latin typeface="Microsoft YaHei"/>
              </a:defRPr>
            </a:pPr>
            <a:r>
              <a:t>儿童App合规要点：COPPA &amp; App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海外市场的必备资质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15568"/>
            <a:ext cx="27432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2743200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</a:defRPr>
            </a:pPr>
            <a:r>
              <a:t>COPPA合规 (美国市场)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82496"/>
            <a:ext cx="2468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  <a:latin typeface="Microsoft YaHei"/>
              </a:defRPr>
            </a:pPr>
            <a:r>
              <a:t>• 不得在未经父母同意下收集13岁以下儿童的个人信息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58568"/>
            <a:ext cx="2468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  <a:latin typeface="Microsoft YaHei"/>
              </a:defRPr>
            </a:pPr>
            <a:r>
              <a:t>• 禁用IDFA/广告追踪标识符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2468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  <a:latin typeface="Microsoft YaHei"/>
              </a:defRPr>
            </a:pPr>
            <a:r>
              <a:t>• 提供清晰的隐私政策说明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10712"/>
            <a:ext cx="2468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  <a:latin typeface="Microsoft YaHei"/>
              </a:defRPr>
            </a:pPr>
            <a:r>
              <a:t>• 广告必须为上下文广告(contextual)，禁止定向广告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86784"/>
            <a:ext cx="2468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  <a:latin typeface="Microsoft YaHei"/>
              </a:defRPr>
            </a:pPr>
            <a:r>
              <a:t>• 违规罚款：最高$51,444元/每次违规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115568"/>
            <a:ext cx="27432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115568"/>
            <a:ext cx="2743200" cy="43891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20700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</a:defRPr>
            </a:pPr>
            <a:r>
              <a:t>App Store审核指南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682496"/>
            <a:ext cx="2468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  <a:latin typeface="Microsoft YaHei"/>
              </a:defRPr>
            </a:pPr>
            <a:r>
              <a:t>• Age Rating设置为4+或9+(Kids Category)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258568"/>
            <a:ext cx="2468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  <a:latin typeface="Microsoft YaHei"/>
              </a:defRPr>
            </a:pPr>
            <a:r>
              <a:t>• 若使用Kids Category则禁止第三方广告/分析SDK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834640"/>
            <a:ext cx="2468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  <a:latin typeface="Microsoft YaHei"/>
              </a:defRPr>
            </a:pPr>
            <a:r>
              <a:t>• 建议：使用普通Education分类+自行管理广告合规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410712"/>
            <a:ext cx="2468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  <a:latin typeface="Microsoft YaHei"/>
              </a:defRPr>
            </a:pPr>
            <a:r>
              <a:t>• 所有外部链接必须在家长门控(gate)之后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986784"/>
            <a:ext cx="2468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  <a:latin typeface="Microsoft YaHei"/>
              </a:defRPr>
            </a:pPr>
            <a:r>
              <a:t>• 广告内容必须适合儿童，不得包含不当引导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115568"/>
            <a:ext cx="27432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115568"/>
            <a:ext cx="2743200" cy="43891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20700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</a:defRPr>
            </a:pPr>
            <a:r>
              <a:t>广告内容规范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682496"/>
            <a:ext cx="2468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  <a:latin typeface="Microsoft YaHei"/>
              </a:defRPr>
            </a:pPr>
            <a:r>
              <a:t>• 禁止展示游戏类广告（诱导下载）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258568"/>
            <a:ext cx="2468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  <a:latin typeface="Microsoft YaHei"/>
              </a:defRPr>
            </a:pPr>
            <a:r>
              <a:t>• 优先引入教育硬件/品牌类广告主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834640"/>
            <a:ext cx="2468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  <a:latin typeface="Microsoft YaHei"/>
              </a:defRPr>
            </a:pPr>
            <a:r>
              <a:t>• 建立广告素材审核白名单机制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410712"/>
            <a:ext cx="2468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  <a:latin typeface="Microsoft YaHei"/>
              </a:defRPr>
            </a:pPr>
            <a:r>
              <a:t>• 家长可在设置中查看/管理广告频次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986784"/>
            <a:ext cx="2468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  <a:latin typeface="Microsoft YaHei"/>
              </a:defRPr>
            </a:pPr>
            <a:r>
              <a:t>• 提供无广告版本选项（如适用）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B3C"/>
                </a:solidFill>
                <a:latin typeface="Microsoft YaHei"/>
              </a:defRPr>
            </a:pPr>
            <a:r>
              <a:t>04 产品功能架构：四大核心模块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TechKids MVP 功能蓝图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15568"/>
            <a:ext cx="4114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41148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25296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2B3C"/>
                </a:solidFill>
              </a:defRPr>
            </a:pPr>
            <a:r>
              <a:t>🎮 编程探险岛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243584"/>
            <a:ext cx="731520" cy="256032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252728"/>
            <a:ext cx="7315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FFFFFF"/>
                </a:solidFill>
              </a:defRPr>
            </a:pPr>
            <a:r>
              <a:t>5-8岁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36192"/>
            <a:ext cx="3840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28090"/>
                </a:solidFill>
              </a:defRPr>
            </a:pPr>
            <a:r>
              <a:t>游戏化编程启蒙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10512"/>
            <a:ext cx="18745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▸ 拖拽式代码块编程（类Scratch Jr）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810512"/>
            <a:ext cx="18745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▸ 30+主题冒险关卡（海洋、太空、恐龙）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95144"/>
            <a:ext cx="18745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▸ 实时运行反馈与动画效果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295144"/>
            <a:ext cx="18745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▸ 角色/道具收集系统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115568"/>
            <a:ext cx="4114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1115568"/>
            <a:ext cx="411480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225296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2B3C"/>
                </a:solidFill>
              </a:defRPr>
            </a:pPr>
            <a:r>
              <a:t>🤖 AI小伙伴实验室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243584"/>
            <a:ext cx="731520" cy="25603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1252728"/>
            <a:ext cx="7315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FFFFFF"/>
                </a:solidFill>
              </a:defRPr>
            </a:pPr>
            <a:r>
              <a:t>7-10岁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536192"/>
            <a:ext cx="3840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A896"/>
                </a:solidFill>
              </a:defRPr>
            </a:pPr>
            <a:r>
              <a:t>AI概念互动体验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1810512"/>
            <a:ext cx="18745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▸ 语音对话AI助手角色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1810512"/>
            <a:ext cx="18745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▸ 机器学习可视化小游戏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295144"/>
            <a:ext cx="18745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▸ 训练你的AI宠物（喂数据→看行为变化）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295144"/>
            <a:ext cx="18745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▸ AI伦理启蒙故事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035808"/>
            <a:ext cx="4114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035808"/>
            <a:ext cx="41148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145536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2B3C"/>
                </a:solidFill>
              </a:defRPr>
            </a:pPr>
            <a:r>
              <a:t>🏆 创意工坊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11880" y="3163824"/>
            <a:ext cx="731520" cy="256032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3172968"/>
            <a:ext cx="7315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FFFFFF"/>
                </a:solidFill>
              </a:defRPr>
            </a:pPr>
            <a:r>
              <a:t>8-12岁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456432"/>
            <a:ext cx="3840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2C39A"/>
                </a:solidFill>
              </a:defRPr>
            </a:pPr>
            <a:r>
              <a:t>项目式创作空间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730752"/>
            <a:ext cx="18745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▸ 自由搭建互动故事/动画/小游戏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3730752"/>
            <a:ext cx="18745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▸ 模板库+教程引导创作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215384"/>
            <a:ext cx="18745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▸ 作品分享社区（需家长审核）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4215384"/>
            <a:ext cx="18745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▸ 每周创意挑战赛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09160" y="3035808"/>
            <a:ext cx="4114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09160" y="3035808"/>
            <a:ext cx="4114800" cy="54864"/>
          </a:xfrm>
          <a:prstGeom prst="rect">
            <a:avLst/>
          </a:prstGeom>
          <a:solidFill>
            <a:srgbClr val="F97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0" y="3145536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2B3C"/>
                </a:solidFill>
              </a:defRPr>
            </a:pPr>
            <a:r>
              <a:t>📊 家长中心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80" y="3163824"/>
            <a:ext cx="731520" cy="256032"/>
          </a:xfrm>
          <a:prstGeom prst="roundRect">
            <a:avLst/>
          </a:prstGeom>
          <a:solidFill>
            <a:srgbClr val="F97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0" y="3172968"/>
            <a:ext cx="7315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FFFFFF"/>
                </a:solidFill>
              </a:defRPr>
            </a:pPr>
            <a:r>
              <a:t>家长端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456432"/>
            <a:ext cx="3840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9723C"/>
                </a:solidFill>
              </a:defRPr>
            </a:pPr>
            <a:r>
              <a:t>学习管理与控制台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3730752"/>
            <a:ext cx="18745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▸ 学习进度/时长仪表盘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3730752"/>
            <a:ext cx="18745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▸ 知识点掌握热力图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4215384"/>
            <a:ext cx="18745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▸ 广告展示设置（频次/时段）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4215384"/>
            <a:ext cx="18745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▸ 每周学习报告推送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B3C"/>
                </a:solidFill>
                <a:latin typeface="Microsoft YaHei"/>
              </a:defRPr>
            </a:pPr>
            <a:r>
              <a:t>用户体验旅程设计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从获客到活跃的全链路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1234440"/>
            <a:ext cx="475488" cy="47548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280160" y="1417320"/>
            <a:ext cx="438912" cy="137160"/>
          </a:xfrm>
          <a:prstGeom prst="rightArrow">
            <a:avLst/>
          </a:prstGeom>
          <a:solidFill>
            <a:srgbClr val="CD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78308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28090"/>
                </a:solidFill>
              </a:defRPr>
            </a:pPr>
            <a:r>
              <a:t>首次打开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075688"/>
            <a:ext cx="1371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2148840"/>
            <a:ext cx="123444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A2B3C"/>
                </a:solidFill>
                <a:latin typeface="Microsoft YaHei"/>
              </a:defRPr>
            </a:pPr>
            <a:r>
              <a:t>欢迎动画+年龄选择 个性化头像创建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926080"/>
            <a:ext cx="1234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→ 建立情感连接</a:t>
            </a:r>
          </a:p>
        </p:txBody>
      </p:sp>
      <p:sp>
        <p:nvSpPr>
          <p:cNvPr id="12" name="Oval 11"/>
          <p:cNvSpPr/>
          <p:nvPr/>
        </p:nvSpPr>
        <p:spPr>
          <a:xfrm>
            <a:off x="2185416" y="1234440"/>
            <a:ext cx="475488" cy="47548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85416" y="1325880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715768" y="1417320"/>
            <a:ext cx="438912" cy="137160"/>
          </a:xfrm>
          <a:prstGeom prst="rightArrow">
            <a:avLst/>
          </a:prstGeom>
          <a:solidFill>
            <a:srgbClr val="CD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55648" y="178308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A896"/>
                </a:solidFill>
              </a:defRPr>
            </a:pPr>
            <a:r>
              <a:t>探索主页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55648" y="2075688"/>
            <a:ext cx="1371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2148840"/>
            <a:ext cx="123444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A2B3C"/>
                </a:solidFill>
                <a:latin typeface="Microsoft YaHei"/>
              </a:defRPr>
            </a:pPr>
            <a:r>
              <a:t>四大模块入口 推荐学习路径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926080"/>
            <a:ext cx="1234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→ 降低选择困难</a:t>
            </a:r>
          </a:p>
        </p:txBody>
      </p:sp>
      <p:sp>
        <p:nvSpPr>
          <p:cNvPr id="19" name="Oval 18"/>
          <p:cNvSpPr/>
          <p:nvPr/>
        </p:nvSpPr>
        <p:spPr>
          <a:xfrm>
            <a:off x="3621024" y="1234440"/>
            <a:ext cx="475488" cy="47548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325880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151376" y="1417320"/>
            <a:ext cx="438912" cy="137160"/>
          </a:xfrm>
          <a:prstGeom prst="rightArrow">
            <a:avLst/>
          </a:prstGeom>
          <a:solidFill>
            <a:srgbClr val="CD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91256" y="178308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2C39A"/>
                </a:solidFill>
              </a:defRPr>
            </a:pPr>
            <a:r>
              <a:t>开始学习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91256" y="2075688"/>
            <a:ext cx="1371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64408" y="2148840"/>
            <a:ext cx="123444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A2B3C"/>
                </a:solidFill>
                <a:latin typeface="Microsoft YaHei"/>
              </a:defRPr>
            </a:pPr>
            <a:r>
              <a:t>沉浸式关卡界面 实时进度反馈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4408" y="2926080"/>
            <a:ext cx="1234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→ 心流体验设计</a:t>
            </a:r>
          </a:p>
        </p:txBody>
      </p:sp>
      <p:sp>
        <p:nvSpPr>
          <p:cNvPr id="26" name="Oval 25"/>
          <p:cNvSpPr/>
          <p:nvPr/>
        </p:nvSpPr>
        <p:spPr>
          <a:xfrm>
            <a:off x="5056632" y="1234440"/>
            <a:ext cx="475488" cy="475488"/>
          </a:xfrm>
          <a:prstGeom prst="ellipse">
            <a:avLst/>
          </a:prstGeom>
          <a:solidFill>
            <a:srgbClr val="F97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56632" y="1325880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586984" y="1417320"/>
            <a:ext cx="438912" cy="137160"/>
          </a:xfrm>
          <a:prstGeom prst="rightArrow">
            <a:avLst/>
          </a:prstGeom>
          <a:solidFill>
            <a:srgbClr val="CD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6864" y="178308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9723C"/>
                </a:solidFill>
              </a:defRPr>
            </a:pPr>
            <a:r>
              <a:t>完成关卡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26864" y="2075688"/>
            <a:ext cx="1371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0016" y="2148840"/>
            <a:ext cx="123444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A2B3C"/>
                </a:solidFill>
                <a:latin typeface="Microsoft YaHei"/>
              </a:defRPr>
            </a:pPr>
            <a:r>
              <a:t>成就庆祝动画 星星/徽章奖励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0016" y="2926080"/>
            <a:ext cx="1234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→ 强化成就感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0" y="1234440"/>
            <a:ext cx="475488" cy="47548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1325880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022592" y="1417320"/>
            <a:ext cx="438912" cy="137160"/>
          </a:xfrm>
          <a:prstGeom prst="rightArrow">
            <a:avLst/>
          </a:prstGeom>
          <a:solidFill>
            <a:srgbClr val="CD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62472" y="178308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28090"/>
                </a:solidFill>
              </a:defRPr>
            </a:pPr>
            <a:r>
              <a:t>广告触发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62472" y="2075688"/>
            <a:ext cx="1371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2148840"/>
            <a:ext cx="123444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A2B3C"/>
                </a:solidFill>
                <a:latin typeface="Microsoft YaHei"/>
              </a:defRPr>
            </a:pPr>
            <a:r>
              <a:t>「观看广告」按钮 可选双倍奖励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35624" y="2926080"/>
            <a:ext cx="1234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→ 正向激励引导</a:t>
            </a:r>
          </a:p>
        </p:txBody>
      </p:sp>
      <p:sp>
        <p:nvSpPr>
          <p:cNvPr id="40" name="Oval 39"/>
          <p:cNvSpPr/>
          <p:nvPr/>
        </p:nvSpPr>
        <p:spPr>
          <a:xfrm>
            <a:off x="7927848" y="1234440"/>
            <a:ext cx="475488" cy="47548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27848" y="1325880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0" y="178308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A896"/>
                </a:solidFill>
              </a:defRPr>
            </a:pPr>
            <a:r>
              <a:t>家长查看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8080" y="2075688"/>
            <a:ext cx="1371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71232" y="2148840"/>
            <a:ext cx="123444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A2B3C"/>
                </a:solidFill>
                <a:latin typeface="Microsoft YaHei"/>
              </a:defRPr>
            </a:pPr>
            <a:r>
              <a:t>周报推送 进度与建议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71232" y="2926080"/>
            <a:ext cx="1234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→ 建立家长信任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0040" y="3383280"/>
            <a:ext cx="8503920" cy="141732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49300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16200"/>
                </a:solidFill>
              </a:defRPr>
            </a:pPr>
            <a:r>
              <a:t>⚡ UX设计三大原则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822191"/>
            <a:ext cx="2651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16200"/>
                </a:solidFill>
              </a:defRPr>
            </a:pPr>
            <a:r>
              <a:t>✦ 即时反馈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059936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D4E37"/>
                </a:solidFill>
              </a:defRPr>
            </a:pPr>
            <a:r>
              <a:t>每个操作都有视觉/声音反馈，等待不超过200ms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46120" y="3822191"/>
            <a:ext cx="2651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16200"/>
                </a:solidFill>
              </a:defRPr>
            </a:pPr>
            <a:r>
              <a:t>✦ 正向激励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46120" y="4059936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D4E37"/>
                </a:solidFill>
              </a:defRPr>
            </a:pPr>
            <a:r>
              <a:t>用星星/徽章/等级代替错误提示，保护学习信心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3822191"/>
            <a:ext cx="2651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16200"/>
                </a:solidFill>
              </a:defRPr>
            </a:pPr>
            <a:r>
              <a:t>✦ 广告友好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4059936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D4E37"/>
                </a:solidFill>
              </a:defRPr>
            </a:pPr>
            <a:r>
              <a:t>广告作为「选择权」而非「打断」，始终让用户感到获益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B3C"/>
                </a:solidFill>
                <a:latin typeface="Microsoft YaHei"/>
              </a:defRPr>
            </a:pPr>
            <a:r>
              <a:t>技术架构方案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iOS原生开发 + 云服务支撑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15568"/>
            <a:ext cx="1188720" cy="59436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71016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客户端层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1115568"/>
            <a:ext cx="70866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271016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A2B3C"/>
                </a:solidFill>
                <a:latin typeface="Consolas"/>
              </a:defRPr>
            </a:pPr>
            <a:r>
              <a:t>SwiftUI原生开发 | iPad+iPhone自适应布局 | 本地化支持(中英日韩)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874519"/>
            <a:ext cx="1188720" cy="59436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29967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引擎层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874519"/>
            <a:ext cx="70866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2029967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A2B3C"/>
                </a:solidFill>
                <a:latin typeface="Consolas"/>
              </a:defRPr>
            </a:pPr>
            <a:r>
              <a:t>自定义图形化编程引擎 | SpriteKit游戏渲染 | CoreML本地推理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633472"/>
            <a:ext cx="1188720" cy="59436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788920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服务层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2633472"/>
            <a:ext cx="70866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27889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A2B3C"/>
                </a:solidFill>
                <a:latin typeface="Consolas"/>
              </a:defRPr>
            </a:pPr>
            <a:r>
              <a:t>Firebase后端即服务(BaaS) | Cloud Firestore数据库 | 云函数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392424"/>
            <a:ext cx="1188720" cy="594360"/>
          </a:xfrm>
          <a:prstGeom prst="roundRect">
            <a:avLst/>
          </a:prstGeom>
          <a:solidFill>
            <a:srgbClr val="F97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547872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广告层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3392424"/>
            <a:ext cx="70866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354787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A2B3C"/>
                </a:solidFill>
                <a:latin typeface="Consolas"/>
              </a:defRPr>
            </a:pPr>
            <a:r>
              <a:t>AdMob聚合SDK | Unity Ads备选 | 自建广告调度中间件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151376"/>
            <a:ext cx="1188720" cy="59436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306824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数据层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4151376"/>
            <a:ext cx="70866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4306824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A2B3C"/>
                </a:solidFill>
                <a:latin typeface="Consolas"/>
              </a:defRPr>
            </a:pPr>
            <a:r>
              <a:t>用户行为分析(SafeTrack) | A/B测试框架 | 学习数据分析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5720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YaHei"/>
              </a:defRPr>
            </a:pPr>
            <a:r>
              <a:t>选型理由：SwiftUI保证iOS最新特性体验 | Firebase零运维成本快速迭代 | AdMob最大化填充率与eCPM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B3C"/>
                </a:solidFill>
                <a:latin typeface="Microsoft YaHei"/>
              </a:defRPr>
            </a:pPr>
            <a:r>
              <a:t>05 商业模式与财务测算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基于IAA模式的收入预测模型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8412480" cy="640080"/>
          </a:xfrm>
          <a:prstGeom prst="roundRect">
            <a:avLst/>
          </a:prstGeom>
          <a:solidFill>
            <a:srgbClr val="E6FFFB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16152"/>
            <a:ext cx="8229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28090"/>
                </a:solidFill>
                <a:latin typeface="Consolas"/>
              </a:defRPr>
            </a:pPr>
            <a:r>
              <a:t>日收入 = DAU × 人均日均广告展示次数 × 填充率 ÷ 1000 × eCPM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828800"/>
          <a:ext cx="8412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1097280"/>
                <a:gridCol w="1188720"/>
                <a:gridCol w="1645920"/>
                <a:gridCol w="192024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阶段</a:t>
                      </a:r>
                    </a:p>
                  </a:txBody>
                  <a:tcPr anchor="ctr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DAU</a:t>
                      </a:r>
                    </a:p>
                  </a:txBody>
                  <a:tcPr anchor="ctr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日均展示</a:t>
                      </a:r>
                    </a:p>
                  </a:txBody>
                  <a:tcPr anchor="ctr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eCPM(¥)</a:t>
                      </a:r>
                    </a:p>
                  </a:txBody>
                  <a:tcPr anchor="ctr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月收入(¥)</a:t>
                      </a:r>
                    </a:p>
                  </a:txBody>
                  <a:tcPr anchor="ctr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年收入(¥)</a:t>
                      </a:r>
                    </a:p>
                  </a:txBody>
                  <a:tcPr anchor="ctr">
                    <a:solidFill>
                      <a:srgbClr val="02809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种子期(M1-3)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5,000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2.5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~¥13,125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4748B"/>
                          </a:solidFill>
                          <a:latin typeface="Consolas"/>
                        </a:defRPr>
                      </a:pPr>
                      <a:r>
                        <a:t>~¥157,500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  <a:latin typeface="Consolas"/>
                        </a:defRPr>
                      </a:pPr>
                      <a:r>
                        <a:t>成长期(M4-6)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  <a:latin typeface="Consolas"/>
                        </a:defRPr>
                      </a:pPr>
                      <a:r>
                        <a:t>25,000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  <a:latin typeface="Consolas"/>
                        </a:defRPr>
                      </a:pPr>
                      <a:r>
                        <a:t>3.0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  <a:latin typeface="Consolas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  <a:latin typeface="Consolas"/>
                        </a:defRPr>
                      </a:pPr>
                      <a:r>
                        <a:t>~¥101,250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  <a:latin typeface="Consolas"/>
                        </a:defRPr>
                      </a:pPr>
                      <a:r>
                        <a:t>~¥1,215,000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  <a:latin typeface="Consolas"/>
                        </a:defRPr>
                      </a:pPr>
                      <a:r>
                        <a:t>扩展期(M7-12)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  <a:latin typeface="Consolas"/>
                        </a:defRPr>
                      </a:pPr>
                      <a:r>
                        <a:t>100,000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  <a:latin typeface="Consolas"/>
                        </a:defRPr>
                      </a:pPr>
                      <a:r>
                        <a:t>3.5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  <a:latin typeface="Consolas"/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  <a:latin typeface="Consolas"/>
                        </a:defRPr>
                      </a:pPr>
                      <a:r>
                        <a:t>~¥577,500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  <a:latin typeface="Consolas"/>
                        </a:defRPr>
                      </a:pPr>
                      <a:r>
                        <a:t>~¥6,930,000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  <a:latin typeface="Consolas"/>
                        </a:defRPr>
                      </a:pPr>
                      <a:r>
                        <a:t>成熟期(Y2)</a:t>
                      </a:r>
                    </a:p>
                  </a:txBody>
                  <a:tcPr anchor="ctr">
                    <a:solidFill>
                      <a:srgbClr val="E6F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  <a:latin typeface="Consolas"/>
                        </a:defRPr>
                      </a:pPr>
                      <a:r>
                        <a:t>300,000+</a:t>
                      </a:r>
                    </a:p>
                  </a:txBody>
                  <a:tcPr anchor="ctr">
                    <a:solidFill>
                      <a:srgbClr val="E6F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  <a:latin typeface="Consolas"/>
                        </a:defRPr>
                      </a:pPr>
                      <a:r>
                        <a:t>4.0</a:t>
                      </a:r>
                    </a:p>
                  </a:txBody>
                  <a:tcPr anchor="ctr">
                    <a:solidFill>
                      <a:srgbClr val="E6F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  <a:latin typeface="Consolas"/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E6F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  <a:latin typeface="Consolas"/>
                        </a:defRPr>
                      </a:pPr>
                      <a:r>
                        <a:t>~¥2,520,000</a:t>
                      </a:r>
                    </a:p>
                  </a:txBody>
                  <a:tcPr anchor="ctr">
                    <a:solidFill>
                      <a:srgbClr val="E6F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  <a:latin typeface="Consolas"/>
                        </a:defRPr>
                      </a:pPr>
                      <a:r>
                        <a:t>~¥30,240,000</a:t>
                      </a:r>
                    </a:p>
                  </a:txBody>
                  <a:tcPr anchor="ctr">
                    <a:solidFill>
                      <a:srgbClr val="E6FF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95020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B3C"/>
                </a:solidFill>
              </a:defRPr>
            </a:pPr>
            <a:r>
              <a:t>关键假设条件: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24528"/>
            <a:ext cx="4023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• eCPM参考教育类App中位数，随用户量级增长而提升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90288"/>
            <a:ext cx="4023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• 人均展示数含激励视频(1.5)+插屏(1)+Banner(0.5-1)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224528"/>
            <a:ext cx="4023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• 填充率假设90%+（多渠道聚合保障）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590288"/>
            <a:ext cx="4023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• 未计入节日/假期流量峰值(+20~40%)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B3C"/>
                </a:solidFill>
                <a:latin typeface="Microsoft YaHei"/>
              </a:defRPr>
            </a:pPr>
            <a:r>
              <a:t>产品发展路线图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从MVP到成熟产品的演进计划</a:t>
            </a:r>
          </a:p>
        </p:txBody>
      </p:sp>
      <p:sp>
        <p:nvSpPr>
          <p:cNvPr id="5" name="Oval 4"/>
          <p:cNvSpPr/>
          <p:nvPr/>
        </p:nvSpPr>
        <p:spPr>
          <a:xfrm>
            <a:off x="1143000" y="1115568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18872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1307592"/>
            <a:ext cx="1828800" cy="36576"/>
          </a:xfrm>
          <a:prstGeom prst="rect">
            <a:avLst/>
          </a:prstGeom>
          <a:solidFill>
            <a:srgbClr val="CD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1645920"/>
            <a:ext cx="2103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090"/>
                </a:solidFill>
              </a:defRPr>
            </a:pPr>
            <a:r>
              <a:t>Phase 1: MVP (M1-3)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11680"/>
            <a:ext cx="1920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核心功能验证</a:t>
            </a:r>
          </a:p>
        </p:txBody>
      </p:sp>
      <p:sp>
        <p:nvSpPr>
          <p:cNvPr id="11" name="Oval 10"/>
          <p:cNvSpPr/>
          <p:nvPr/>
        </p:nvSpPr>
        <p:spPr>
          <a:xfrm>
            <a:off x="429768" y="2350008"/>
            <a:ext cx="109728" cy="1097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173736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编程探险岛基础版(10关卡)</a:t>
            </a:r>
          </a:p>
        </p:txBody>
      </p:sp>
      <p:sp>
        <p:nvSpPr>
          <p:cNvPr id="13" name="Oval 12"/>
          <p:cNvSpPr/>
          <p:nvPr/>
        </p:nvSpPr>
        <p:spPr>
          <a:xfrm>
            <a:off x="429768" y="2916936"/>
            <a:ext cx="109728" cy="1097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52928"/>
            <a:ext cx="173736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IAA广告接入(AdMob)</a:t>
            </a:r>
          </a:p>
        </p:txBody>
      </p:sp>
      <p:sp>
        <p:nvSpPr>
          <p:cNvPr id="15" name="Oval 14"/>
          <p:cNvSpPr/>
          <p:nvPr/>
        </p:nvSpPr>
        <p:spPr>
          <a:xfrm>
            <a:off x="429768" y="3483864"/>
            <a:ext cx="109728" cy="1097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19856"/>
            <a:ext cx="173736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家长中心v1.0</a:t>
            </a:r>
          </a:p>
        </p:txBody>
      </p:sp>
      <p:sp>
        <p:nvSpPr>
          <p:cNvPr id="17" name="Oval 16"/>
          <p:cNvSpPr/>
          <p:nvPr/>
        </p:nvSpPr>
        <p:spPr>
          <a:xfrm>
            <a:off x="429768" y="4050792"/>
            <a:ext cx="109728" cy="1097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986783"/>
            <a:ext cx="173736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iOS上线+ASO优化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681728"/>
            <a:ext cx="1097280" cy="27432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09160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种子期</a:t>
            </a:r>
          </a:p>
        </p:txBody>
      </p:sp>
      <p:sp>
        <p:nvSpPr>
          <p:cNvPr id="21" name="Oval 20"/>
          <p:cNvSpPr/>
          <p:nvPr/>
        </p:nvSpPr>
        <p:spPr>
          <a:xfrm>
            <a:off x="3355848" y="1115568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55848" y="118872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67328" y="1307592"/>
            <a:ext cx="1828800" cy="36576"/>
          </a:xfrm>
          <a:prstGeom prst="rect">
            <a:avLst/>
          </a:prstGeom>
          <a:solidFill>
            <a:srgbClr val="CD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532888" y="1645920"/>
            <a:ext cx="2103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24328" y="173736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896"/>
                </a:solidFill>
              </a:defRPr>
            </a:pPr>
            <a:r>
              <a:t>Phase 2: 成长 (M4-6)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24328" y="2011680"/>
            <a:ext cx="1920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内容扩张+增长</a:t>
            </a:r>
          </a:p>
        </p:txBody>
      </p:sp>
      <p:sp>
        <p:nvSpPr>
          <p:cNvPr id="27" name="Oval 26"/>
          <p:cNvSpPr/>
          <p:nvPr/>
        </p:nvSpPr>
        <p:spPr>
          <a:xfrm>
            <a:off x="2642616" y="2350008"/>
            <a:ext cx="109728" cy="1097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07208" y="2286000"/>
            <a:ext cx="173736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新增AI小伙伴实验室</a:t>
            </a:r>
          </a:p>
        </p:txBody>
      </p:sp>
      <p:sp>
        <p:nvSpPr>
          <p:cNvPr id="29" name="Oval 28"/>
          <p:cNvSpPr/>
          <p:nvPr/>
        </p:nvSpPr>
        <p:spPr>
          <a:xfrm>
            <a:off x="2642616" y="2916936"/>
            <a:ext cx="109728" cy="1097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07208" y="2852928"/>
            <a:ext cx="173736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关卡扩容至50+</a:t>
            </a:r>
          </a:p>
        </p:txBody>
      </p:sp>
      <p:sp>
        <p:nvSpPr>
          <p:cNvPr id="31" name="Oval 30"/>
          <p:cNvSpPr/>
          <p:nvPr/>
        </p:nvSpPr>
        <p:spPr>
          <a:xfrm>
            <a:off x="2642616" y="3483864"/>
            <a:ext cx="109728" cy="1097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07208" y="3419856"/>
            <a:ext cx="173736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社交分享功能</a:t>
            </a:r>
          </a:p>
        </p:txBody>
      </p:sp>
      <p:sp>
        <p:nvSpPr>
          <p:cNvPr id="33" name="Oval 32"/>
          <p:cNvSpPr/>
          <p:nvPr/>
        </p:nvSpPr>
        <p:spPr>
          <a:xfrm>
            <a:off x="2642616" y="4050792"/>
            <a:ext cx="109728" cy="1097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07208" y="3986783"/>
            <a:ext cx="173736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多语言支持上线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35808" y="4681728"/>
            <a:ext cx="1097280" cy="2743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35808" y="4709160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成长期</a:t>
            </a:r>
          </a:p>
        </p:txBody>
      </p:sp>
      <p:sp>
        <p:nvSpPr>
          <p:cNvPr id="37" name="Oval 36"/>
          <p:cNvSpPr/>
          <p:nvPr/>
        </p:nvSpPr>
        <p:spPr>
          <a:xfrm>
            <a:off x="5568696" y="1115568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68696" y="118872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0176" y="1307592"/>
            <a:ext cx="1828800" cy="36576"/>
          </a:xfrm>
          <a:prstGeom prst="rect">
            <a:avLst/>
          </a:prstGeom>
          <a:solidFill>
            <a:srgbClr val="CD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745736" y="1645920"/>
            <a:ext cx="2103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37176" y="173736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C39A"/>
                </a:solidFill>
              </a:defRPr>
            </a:pPr>
            <a:r>
              <a:t>Phase 3: 扩展 (M7-12)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37176" y="2011680"/>
            <a:ext cx="1920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生态构建</a:t>
            </a:r>
          </a:p>
        </p:txBody>
      </p:sp>
      <p:sp>
        <p:nvSpPr>
          <p:cNvPr id="43" name="Oval 42"/>
          <p:cNvSpPr/>
          <p:nvPr/>
        </p:nvSpPr>
        <p:spPr>
          <a:xfrm>
            <a:off x="4855464" y="2350008"/>
            <a:ext cx="109728" cy="10972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0056" y="2286000"/>
            <a:ext cx="173736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创意工坊模块上线</a:t>
            </a:r>
          </a:p>
        </p:txBody>
      </p:sp>
      <p:sp>
        <p:nvSpPr>
          <p:cNvPr id="45" name="Oval 44"/>
          <p:cNvSpPr/>
          <p:nvPr/>
        </p:nvSpPr>
        <p:spPr>
          <a:xfrm>
            <a:off x="4855464" y="2916936"/>
            <a:ext cx="109728" cy="10972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0056" y="2852928"/>
            <a:ext cx="173736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UGC社区开放</a:t>
            </a:r>
          </a:p>
        </p:txBody>
      </p:sp>
      <p:sp>
        <p:nvSpPr>
          <p:cNvPr id="47" name="Oval 46"/>
          <p:cNvSpPr/>
          <p:nvPr/>
        </p:nvSpPr>
        <p:spPr>
          <a:xfrm>
            <a:off x="4855464" y="3483864"/>
            <a:ext cx="109728" cy="10972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0056" y="3419856"/>
            <a:ext cx="173736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Web端管理后台</a:t>
            </a:r>
          </a:p>
        </p:txBody>
      </p:sp>
      <p:sp>
        <p:nvSpPr>
          <p:cNvPr id="49" name="Oval 48"/>
          <p:cNvSpPr/>
          <p:nvPr/>
        </p:nvSpPr>
        <p:spPr>
          <a:xfrm>
            <a:off x="4855464" y="4050792"/>
            <a:ext cx="109728" cy="10972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0056" y="3986783"/>
            <a:ext cx="173736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Android版启动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48656" y="4681728"/>
            <a:ext cx="1097280" cy="27432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48656" y="4709160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扩展期</a:t>
            </a:r>
          </a:p>
        </p:txBody>
      </p:sp>
      <p:sp>
        <p:nvSpPr>
          <p:cNvPr id="53" name="Oval 52"/>
          <p:cNvSpPr/>
          <p:nvPr/>
        </p:nvSpPr>
        <p:spPr>
          <a:xfrm>
            <a:off x="7781543" y="1115568"/>
            <a:ext cx="411480" cy="411480"/>
          </a:xfrm>
          <a:prstGeom prst="ellipse">
            <a:avLst/>
          </a:prstGeom>
          <a:solidFill>
            <a:srgbClr val="F97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81543" y="118872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58583" y="1645920"/>
            <a:ext cx="2103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50023" y="173736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9723C"/>
                </a:solidFill>
              </a:defRPr>
            </a:pPr>
            <a:r>
              <a:t>Phase 4: 成熟 (Y2)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50023" y="2011680"/>
            <a:ext cx="1920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规模化运营</a:t>
            </a:r>
          </a:p>
        </p:txBody>
      </p:sp>
      <p:sp>
        <p:nvSpPr>
          <p:cNvPr id="58" name="Oval 57"/>
          <p:cNvSpPr/>
          <p:nvPr/>
        </p:nvSpPr>
        <p:spPr>
          <a:xfrm>
            <a:off x="7068311" y="2350008"/>
            <a:ext cx="109728" cy="109728"/>
          </a:xfrm>
          <a:prstGeom prst="ellipse">
            <a:avLst/>
          </a:prstGeom>
          <a:solidFill>
            <a:srgbClr val="F97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32903" y="2286000"/>
            <a:ext cx="173736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AI自适应学习路径</a:t>
            </a:r>
          </a:p>
        </p:txBody>
      </p:sp>
      <p:sp>
        <p:nvSpPr>
          <p:cNvPr id="60" name="Oval 59"/>
          <p:cNvSpPr/>
          <p:nvPr/>
        </p:nvSpPr>
        <p:spPr>
          <a:xfrm>
            <a:off x="7068311" y="2916936"/>
            <a:ext cx="109728" cy="109728"/>
          </a:xfrm>
          <a:prstGeom prst="ellipse">
            <a:avLst/>
          </a:prstGeom>
          <a:solidFill>
            <a:srgbClr val="F97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32903" y="2852928"/>
            <a:ext cx="173736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品牌广告主直投</a:t>
            </a:r>
          </a:p>
        </p:txBody>
      </p:sp>
      <p:sp>
        <p:nvSpPr>
          <p:cNvPr id="62" name="Oval 61"/>
          <p:cNvSpPr/>
          <p:nvPr/>
        </p:nvSpPr>
        <p:spPr>
          <a:xfrm>
            <a:off x="7068311" y="3483864"/>
            <a:ext cx="109728" cy="109728"/>
          </a:xfrm>
          <a:prstGeom prst="ellipse">
            <a:avLst/>
          </a:prstGeom>
          <a:solidFill>
            <a:srgbClr val="F97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32903" y="3419856"/>
            <a:ext cx="173736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硬件周边联动</a:t>
            </a:r>
          </a:p>
        </p:txBody>
      </p:sp>
      <p:sp>
        <p:nvSpPr>
          <p:cNvPr id="64" name="Oval 63"/>
          <p:cNvSpPr/>
          <p:nvPr/>
        </p:nvSpPr>
        <p:spPr>
          <a:xfrm>
            <a:off x="7068311" y="4050792"/>
            <a:ext cx="109728" cy="109728"/>
          </a:xfrm>
          <a:prstGeom prst="ellipse">
            <a:avLst/>
          </a:prstGeom>
          <a:solidFill>
            <a:srgbClr val="F97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32903" y="3986783"/>
            <a:ext cx="173736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A2B3C"/>
                </a:solidFill>
              </a:defRPr>
            </a:pPr>
            <a:r>
              <a:t>全球化市场覆盖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461503" y="4681728"/>
            <a:ext cx="1097280" cy="274320"/>
          </a:xfrm>
          <a:prstGeom prst="roundRect">
            <a:avLst/>
          </a:prstGeom>
          <a:solidFill>
            <a:srgbClr val="F97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61503" y="4709160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成熟期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TechKids — 让每个孩子都能接触技术的美好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精准切入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65376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ECDF"/>
                </a:solidFill>
              </a:defRPr>
            </a:pPr>
            <a:r>
              <a:t>5-12岁移动端技术启蒙空白市场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IAA变现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88336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ECDF"/>
                </a:solidFill>
              </a:defRPr>
            </a:pPr>
            <a:r>
              <a:t>零门槛免费模式+科学广告策略实现盈利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全球化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11296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ECDF"/>
                </a:solidFill>
              </a:defRPr>
            </a:pPr>
            <a:r>
              <a:t>多语言支持+COPPA合规覆盖海外市场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23360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可扩展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34256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ECDF"/>
                </a:solidFill>
              </a:defRPr>
            </a:pPr>
            <a:r>
              <a:t>从单App到平台化的清晰路线图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97680"/>
            <a:ext cx="3657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37083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</a:defRPr>
            </a:pPr>
            <a:r>
              <a:t>下一步：启动MVP开发 → 3个月上线App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